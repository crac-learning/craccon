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64c030856a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64c030856a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264c030856a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264c030856a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264c030856a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264c030856a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803b417cc7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803b417cc7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803b417cc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803b417cc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803b417cc7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803b417cc7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803b417cc7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803b417cc7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803b417cc7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803b417cc7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803b417cc7_0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803b417cc7_0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b3152da28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b3152da28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2b3152da28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2b3152da28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83f4a3d59f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83f4a3d59f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83f4a3d59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83f4a3d59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83f4a3d59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383f4a3d59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803b417c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803b417c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803b417cc7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803b417cc7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803b417cc7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803b417cc7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264cff29cfd_1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264cff29cfd_1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8478a5f99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8478a5f99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8478a5f990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8478a5f9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8478a5f990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8478a5f990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8478a5f990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8478a5f9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8478a5f990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8478a5f990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8478a5f990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8478a5f990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8478a5f990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8478a5f990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8478a5f990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8" name="Google Shape;198;g38478a5f99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8478a5f990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8478a5f990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8478a5f990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8478a5f990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g38478a5f990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6" name="Google Shape;216;g38478a5f99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666e23d1a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666e23d1a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64c030856a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64c030856a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2666e23d1af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8" name="Google Shape;238;g2666e23d1a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dark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1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66775"/>
            <a:ext cx="8520600" cy="189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700"/>
              <a:t>Pentesting Methodology </a:t>
            </a:r>
            <a:endParaRPr sz="4700">
              <a:solidFill>
                <a:schemeClr val="accent4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88025" y="2288000"/>
            <a:ext cx="4402187" cy="24747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ctrTitle"/>
          </p:nvPr>
        </p:nvSpPr>
        <p:spPr>
          <a:xfrm>
            <a:off x="1983900" y="145700"/>
            <a:ext cx="5176200" cy="8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whoami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252275" y="1146150"/>
            <a:ext cx="5350200" cy="330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Name: Herane Malhotra</a:t>
            </a:r>
            <a:br>
              <a:rPr lang="en-GB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Bug Bounty Hunter (@drsniper)</a:t>
            </a:r>
            <a:br>
              <a:rPr lang="en-GB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Offensive Security Certified Professional (OSCP)</a:t>
            </a:r>
            <a:br>
              <a:rPr lang="en-GB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 sz="1800">
                <a:solidFill>
                  <a:schemeClr val="dk1"/>
                </a:solidFill>
              </a:rPr>
              <a:t>YouTuber (CryptoKnight) - 137k+ Subscribers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62" name="Google Shape;6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27200" y="1450625"/>
            <a:ext cx="2762050" cy="2762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/>
          <p:nvPr>
            <p:ph type="title"/>
          </p:nvPr>
        </p:nvSpPr>
        <p:spPr>
          <a:xfrm>
            <a:off x="311700" y="1989150"/>
            <a:ext cx="8520600" cy="14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9900"/>
                </a:solidFill>
              </a:rPr>
              <a:t>What To Expect from </a:t>
            </a:r>
            <a:endParaRPr sz="34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9900"/>
                </a:solidFill>
              </a:rPr>
              <a:t>this Workshop ?</a:t>
            </a:r>
            <a:endParaRPr sz="3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787300"/>
            <a:ext cx="8520600" cy="404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000">
                <a:solidFill>
                  <a:schemeClr val="dk1"/>
                </a:solidFill>
              </a:rPr>
              <a:t>Bug Bounty Vs Pentest: Clash of Mindsets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000">
                <a:solidFill>
                  <a:schemeClr val="dk1"/>
                </a:solidFill>
              </a:rPr>
              <a:t>Into the Shadows: Hunting Unidentified Bugs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GB" sz="2000">
                <a:solidFill>
                  <a:schemeClr val="dk1"/>
                </a:solidFill>
              </a:rPr>
              <a:t>postMessage XSS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GB" sz="2000">
                <a:solidFill>
                  <a:schemeClr val="dk1"/>
                </a:solidFill>
              </a:rPr>
              <a:t>OAuth Misconfigurations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GB" sz="2000">
                <a:solidFill>
                  <a:schemeClr val="dk1"/>
                </a:solidFill>
              </a:rPr>
              <a:t>Business Logic Flaws</a:t>
            </a:r>
            <a:endParaRPr sz="2000">
              <a:solidFill>
                <a:schemeClr val="dk1"/>
              </a:solidFill>
            </a:endParaRPr>
          </a:p>
          <a:p>
            <a:pPr indent="-3556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○"/>
            </a:pPr>
            <a:r>
              <a:rPr lang="en-GB" sz="2000">
                <a:solidFill>
                  <a:schemeClr val="dk1"/>
                </a:solidFill>
              </a:rPr>
              <a:t>Broken Access Control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000">
                <a:solidFill>
                  <a:schemeClr val="dk1"/>
                </a:solidFill>
              </a:rPr>
              <a:t>Scoring the Kill: Mastering CVSS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000">
                <a:solidFill>
                  <a:schemeClr val="dk1"/>
                </a:solidFill>
              </a:rPr>
              <a:t>The Art of Report Writing: From Hacker to Storyteller</a:t>
            </a:r>
            <a:endParaRPr sz="2000">
              <a:solidFill>
                <a:schemeClr val="dk1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●"/>
            </a:pPr>
            <a:r>
              <a:rPr lang="en-GB" sz="2000">
                <a:solidFill>
                  <a:schemeClr val="dk1"/>
                </a:solidFill>
              </a:rPr>
              <a:t>QnA</a:t>
            </a:r>
            <a:br>
              <a:rPr lang="en-GB" sz="2000">
                <a:solidFill>
                  <a:schemeClr val="dk1"/>
                </a:solidFill>
              </a:rPr>
            </a:b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1989150"/>
            <a:ext cx="8520600" cy="14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9900"/>
                </a:solidFill>
              </a:rPr>
              <a:t>Bug Bounty Vs Pentest: Clash of Mindsets</a:t>
            </a:r>
            <a:endParaRPr sz="3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Scope Definition</a:t>
            </a:r>
            <a:endParaRPr/>
          </a:p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Pentest: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Fixed, detailed scope (IPs, domains, apps).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Explicit methodology required (OWASP, NIST, PTES).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Timeboxed (e.g., 2 weeks).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Bug Bounty: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Scope can be broad (e.g., *.company.com) or narrow (one API).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Often evolving — new assets added over time.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Not </a:t>
            </a:r>
            <a:r>
              <a:rPr lang="en-GB" sz="1300">
                <a:solidFill>
                  <a:schemeClr val="dk1"/>
                </a:solidFill>
              </a:rPr>
              <a:t>time bound</a:t>
            </a:r>
            <a:r>
              <a:rPr lang="en-GB" sz="1300">
                <a:solidFill>
                  <a:schemeClr val="dk1"/>
                </a:solidFill>
              </a:rPr>
              <a:t> → continuous hunting.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Reconnaissance</a:t>
            </a:r>
            <a:endParaRPr/>
          </a:p>
        </p:txBody>
      </p:sp>
      <p:sp>
        <p:nvSpPr>
          <p:cNvPr id="89" name="Google Shape;89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Pentest: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Recon is focused → map only the in-scope assets.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Efficiency is key → no need to waste time on out-of-scope.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Bug Bounty: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Recon is </a:t>
            </a:r>
            <a:r>
              <a:rPr b="1" lang="en-GB" sz="1300">
                <a:solidFill>
                  <a:schemeClr val="dk1"/>
                </a:solidFill>
              </a:rPr>
              <a:t>everything</a:t>
            </a:r>
            <a:r>
              <a:rPr lang="en-GB" sz="1300">
                <a:solidFill>
                  <a:schemeClr val="dk1"/>
                </a:solidFill>
              </a:rPr>
              <a:t> → finding hidden, unannounced, forgotten assets is often where payouts come from.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Asset discovery tools, subdomain brute force, ASN lookups, archive digging, etc.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Exploitation Mindset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Pentest: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Goal = coverage. You must check for </a:t>
            </a:r>
            <a:r>
              <a:rPr b="1" lang="en-GB" sz="1300">
                <a:solidFill>
                  <a:schemeClr val="dk1"/>
                </a:solidFill>
              </a:rPr>
              <a:t>all common vulns</a:t>
            </a:r>
            <a:r>
              <a:rPr lang="en-GB" sz="1300">
                <a:solidFill>
                  <a:schemeClr val="dk1"/>
                </a:solidFill>
              </a:rPr>
              <a:t> (OWASP Top 10, misconfigs, privilege escalation, etc.).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Report </a:t>
            </a:r>
            <a:r>
              <a:rPr i="1" lang="en-GB" sz="1300">
                <a:solidFill>
                  <a:schemeClr val="dk1"/>
                </a:solidFill>
              </a:rPr>
              <a:t>all</a:t>
            </a:r>
            <a:r>
              <a:rPr lang="en-GB" sz="1300">
                <a:solidFill>
                  <a:schemeClr val="dk1"/>
                </a:solidFill>
              </a:rPr>
              <a:t> issues, even low severity (weak ciphers, missing headers).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Bug Bounty: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Goal = impact. You don’t waste time on low-hanging fruit unless high severity.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Focus on </a:t>
            </a:r>
            <a:r>
              <a:rPr b="1" lang="en-GB" sz="1300">
                <a:solidFill>
                  <a:schemeClr val="dk1"/>
                </a:solidFill>
              </a:rPr>
              <a:t>high-impact vulns</a:t>
            </a:r>
            <a:r>
              <a:rPr lang="en-GB" sz="1300">
                <a:solidFill>
                  <a:schemeClr val="dk1"/>
                </a:solidFill>
              </a:rPr>
              <a:t> (RCE, IDOR, Bypass).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Business logic flaws are often the jackpot.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3613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Time Management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017725"/>
            <a:ext cx="8520600" cy="3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Pentest: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Limited days/hours → structured workflow.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Often team-based, tasks divided (web app, infra, mobile).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Must balance depth vs coverage.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Bug Bounty: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Self-paced, open-ended.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You can spend weeks on one obscure endpoint if you believe in potential payout.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Persistence &amp; creativity matter more than speed.</a:t>
            </a:r>
            <a:endParaRPr b="1" sz="15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83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Deliverables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77500"/>
            <a:ext cx="8520600" cy="362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Pentest: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Formal report with Executive Summary + Technical Details + PoC + Mitigation.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Even “informational” findings are included.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</a:rPr>
              <a:t>Bug Bounty:</a:t>
            </a:r>
            <a:endParaRPr b="1"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Report per bug - clear PoC + direct impact + reproduction steps.</a:t>
            </a:r>
            <a:br>
              <a:rPr lang="en-GB" sz="1300">
                <a:solidFill>
                  <a:schemeClr val="dk1"/>
                </a:solidFill>
              </a:rPr>
            </a:br>
            <a:endParaRPr sz="1300">
              <a:solidFill>
                <a:schemeClr val="dk1"/>
              </a:solidFill>
            </a:endParaRPr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Char char="●"/>
            </a:pPr>
            <a:r>
              <a:rPr lang="en-GB" sz="1300">
                <a:solidFill>
                  <a:schemeClr val="dk1"/>
                </a:solidFill>
              </a:rPr>
              <a:t>No need for executive summaries or boilerplate - only actionable bug reports.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197550" y="1545050"/>
            <a:ext cx="8520600" cy="150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>
                <a:solidFill>
                  <a:schemeClr val="accent4"/>
                </a:solidFill>
              </a:rPr>
              <a:t>HIGH </a:t>
            </a:r>
            <a:r>
              <a:rPr lang="en-GB" sz="4020"/>
              <a:t>Impact</a:t>
            </a:r>
            <a:endParaRPr sz="402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020">
                <a:solidFill>
                  <a:schemeClr val="accent4"/>
                </a:solidFill>
              </a:rPr>
              <a:t>“</a:t>
            </a:r>
            <a:r>
              <a:rPr lang="en-GB" sz="4020">
                <a:solidFill>
                  <a:srgbClr val="FF0000"/>
                </a:solidFill>
              </a:rPr>
              <a:t>Ignored</a:t>
            </a:r>
            <a:r>
              <a:rPr lang="en-GB" sz="4020">
                <a:solidFill>
                  <a:schemeClr val="accent4"/>
                </a:solidFill>
              </a:rPr>
              <a:t>” </a:t>
            </a:r>
            <a:r>
              <a:rPr lang="en-GB" sz="4020"/>
              <a:t>findings</a:t>
            </a:r>
            <a:endParaRPr sz="402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type="title"/>
          </p:nvPr>
        </p:nvSpPr>
        <p:spPr>
          <a:xfrm>
            <a:off x="192075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postMessage</a:t>
            </a:r>
            <a:r>
              <a:rPr lang="en-GB"/>
              <a:t> </a:t>
            </a:r>
            <a:r>
              <a:rPr lang="en-GB">
                <a:solidFill>
                  <a:schemeClr val="accent4"/>
                </a:solidFill>
              </a:rPr>
              <a:t>XSS</a:t>
            </a:r>
            <a:endParaRPr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OAuth Misconfigurations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Business Logic Flaws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7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Broken Access Control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8"/>
          <p:cNvSpPr txBox="1"/>
          <p:nvPr>
            <p:ph type="title"/>
          </p:nvPr>
        </p:nvSpPr>
        <p:spPr>
          <a:xfrm>
            <a:off x="311700" y="1989150"/>
            <a:ext cx="8520600" cy="14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9900"/>
                </a:solidFill>
              </a:rPr>
              <a:t>Scoring the Kill: Mastering CVSS</a:t>
            </a:r>
            <a:endParaRPr sz="3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Common Vulnerability Scoring System (CVSS) = industry standard for measuring the severity of vulnerabilities.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Helps prioritize remediation by providing a numerical score (0.0 – 10.0).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Widely used by vendors, bug bounty platforms, SOCs, and vulnerability management tools.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CVSS Metrics Overview</a:t>
            </a:r>
            <a:endParaRPr/>
          </a:p>
        </p:txBody>
      </p:sp>
      <p:sp>
        <p:nvSpPr>
          <p:cNvPr id="148" name="Google Shape;14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Base Metrics - intrinsic characteristics of a vulnerability (do not change).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Temporal Metrics - change over time (availability of exploit, fix, etc.).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Environmental Metrics - impact within a specific organization (asset value, controls).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Showing Impact - The </a:t>
            </a:r>
            <a:r>
              <a:rPr lang="en-GB">
                <a:solidFill>
                  <a:schemeClr val="accent4"/>
                </a:solidFill>
              </a:rPr>
              <a:t>CIA</a:t>
            </a:r>
            <a:r>
              <a:rPr lang="en-GB"/>
              <a:t> Triad</a:t>
            </a:r>
            <a:endParaRPr/>
          </a:p>
        </p:txBody>
      </p:sp>
      <p:pic>
        <p:nvPicPr>
          <p:cNvPr id="154" name="Google Shape;154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19350" y="1441388"/>
            <a:ext cx="4305300" cy="3171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2"/>
          <p:cNvSpPr txBox="1"/>
          <p:nvPr>
            <p:ph type="title"/>
          </p:nvPr>
        </p:nvSpPr>
        <p:spPr>
          <a:xfrm>
            <a:off x="311700" y="1989150"/>
            <a:ext cx="8520600" cy="148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9900"/>
                </a:solidFill>
              </a:rPr>
              <a:t>The Art of Report Writing: </a:t>
            </a:r>
            <a:endParaRPr sz="3400">
              <a:solidFill>
                <a:srgbClr val="FF99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>
                <a:solidFill>
                  <a:srgbClr val="FF9900"/>
                </a:solidFill>
              </a:rPr>
              <a:t>From Hacker to Storyteller</a:t>
            </a:r>
            <a:endParaRPr sz="3400">
              <a:solidFill>
                <a:srgbClr val="FF9900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Goals of a Pentest Report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65" name="Google Shape;165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Communicate key risks to non-technical and technical audiences.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Provide reproducible evidence and PoC for developers.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Give prioritized remediation guidance that’s actionable.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Establish audit trail and liability alignment (dates, scope, limitations).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Report Audience &amp; Tone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1" name="Google Shape;17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Primary audiences: CISO/management (non-technical), Dev teams (technical), QA, Compliance.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Tone: Objective, factual, concise. Avoid alarmism and speculation.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two-level messaging: short, plain-language summary + technical appendix.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High-level Report Structure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77" name="Google Shape;17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Cover page (company, client, date, testers)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Executive Summary (non-technical)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Scope &amp; Objectives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Assumptions, Limitations &amp; Exclusions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Methodology &amp; Tools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Findings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Risk Rating &amp; Rationale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Remediation Recommendations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Evidence &amp; PoC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Timeline &amp; Disclosure</a:t>
            </a:r>
            <a:endParaRPr sz="1750">
              <a:solidFill>
                <a:schemeClr val="dk1"/>
              </a:solidFill>
            </a:endParaRPr>
          </a:p>
          <a:p>
            <a:pPr indent="-3397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50"/>
              <a:buChar char="●"/>
            </a:pPr>
            <a:r>
              <a:rPr lang="en-GB" sz="1750">
                <a:solidFill>
                  <a:schemeClr val="dk1"/>
                </a:solidFill>
              </a:rPr>
              <a:t>Appendix (full technical details, scripts, CVSS)</a:t>
            </a:r>
            <a:endParaRPr sz="17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275"/>
              <a:buNone/>
            </a:pPr>
            <a:r>
              <a:t/>
            </a:r>
            <a:endParaRPr sz="145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Cover Page / Metadata 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2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-GB" sz="1790">
                <a:solidFill>
                  <a:schemeClr val="dk1"/>
                </a:solidFill>
              </a:rPr>
              <a:t>Client name, project name</a:t>
            </a:r>
            <a:br>
              <a:rPr lang="en-GB" sz="1790">
                <a:solidFill>
                  <a:schemeClr val="dk1"/>
                </a:solidFill>
              </a:rPr>
            </a:br>
            <a:endParaRPr sz="1790">
              <a:solidFill>
                <a:schemeClr val="dk1"/>
              </a:solidFill>
            </a:endParaRPr>
          </a:p>
          <a:p>
            <a:pPr indent="-3422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-GB" sz="1790">
                <a:solidFill>
                  <a:schemeClr val="dk1"/>
                </a:solidFill>
              </a:rPr>
              <a:t>Test period (start/end dates)</a:t>
            </a:r>
            <a:br>
              <a:rPr lang="en-GB" sz="1790">
                <a:solidFill>
                  <a:schemeClr val="dk1"/>
                </a:solidFill>
              </a:rPr>
            </a:br>
            <a:endParaRPr sz="1790">
              <a:solidFill>
                <a:schemeClr val="dk1"/>
              </a:solidFill>
            </a:endParaRPr>
          </a:p>
          <a:p>
            <a:pPr indent="-3422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-GB" sz="1790">
                <a:solidFill>
                  <a:schemeClr val="dk1"/>
                </a:solidFill>
              </a:rPr>
              <a:t>Report date and version</a:t>
            </a:r>
            <a:br>
              <a:rPr lang="en-GB" sz="1790">
                <a:solidFill>
                  <a:schemeClr val="dk1"/>
                </a:solidFill>
              </a:rPr>
            </a:br>
            <a:endParaRPr sz="1790">
              <a:solidFill>
                <a:schemeClr val="dk1"/>
              </a:solidFill>
            </a:endParaRPr>
          </a:p>
          <a:p>
            <a:pPr indent="-3422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-GB" sz="1790">
                <a:solidFill>
                  <a:schemeClr val="dk1"/>
                </a:solidFill>
              </a:rPr>
              <a:t>Engagement type (black-box / grey-box / white-box)</a:t>
            </a:r>
            <a:br>
              <a:rPr lang="en-GB" sz="1790">
                <a:solidFill>
                  <a:schemeClr val="dk1"/>
                </a:solidFill>
              </a:rPr>
            </a:br>
            <a:endParaRPr sz="1790">
              <a:solidFill>
                <a:schemeClr val="dk1"/>
              </a:solidFill>
            </a:endParaRPr>
          </a:p>
          <a:p>
            <a:pPr indent="-3422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-GB" sz="1790">
                <a:solidFill>
                  <a:schemeClr val="dk1"/>
                </a:solidFill>
              </a:rPr>
              <a:t>Testers &amp; contact info</a:t>
            </a:r>
            <a:br>
              <a:rPr lang="en-GB" sz="1790">
                <a:solidFill>
                  <a:schemeClr val="dk1"/>
                </a:solidFill>
              </a:rPr>
            </a:br>
            <a:endParaRPr sz="1790">
              <a:solidFill>
                <a:schemeClr val="dk1"/>
              </a:solidFill>
            </a:endParaRPr>
          </a:p>
          <a:p>
            <a:pPr indent="-3422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90"/>
              <a:buChar char="●"/>
            </a:pPr>
            <a:r>
              <a:rPr lang="en-GB" sz="1790">
                <a:solidFill>
                  <a:schemeClr val="dk1"/>
                </a:solidFill>
              </a:rPr>
              <a:t>Statement of authorization and legal disclaimer</a:t>
            </a:r>
            <a:endParaRPr sz="179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Executive Summary - What to write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89" name="Google Shape;18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Char char="●"/>
            </a:pPr>
            <a:r>
              <a:rPr lang="en-GB" sz="1590">
                <a:solidFill>
                  <a:schemeClr val="dk1"/>
                </a:solidFill>
              </a:rPr>
              <a:t>3–6 short paragraphs (bullet points OK)</a:t>
            </a:r>
            <a:br>
              <a:rPr lang="en-GB" sz="1590">
                <a:solidFill>
                  <a:schemeClr val="dk1"/>
                </a:solidFill>
              </a:rPr>
            </a:br>
            <a:endParaRPr sz="1590">
              <a:solidFill>
                <a:schemeClr val="dk1"/>
              </a:solidFill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Char char="●"/>
            </a:pPr>
            <a:r>
              <a:rPr lang="en-GB" sz="1590">
                <a:solidFill>
                  <a:schemeClr val="dk1"/>
                </a:solidFill>
              </a:rPr>
              <a:t>1st paragraph: overall security posture in one sentence</a:t>
            </a:r>
            <a:br>
              <a:rPr lang="en-GB" sz="1590">
                <a:solidFill>
                  <a:schemeClr val="dk1"/>
                </a:solidFill>
              </a:rPr>
            </a:br>
            <a:endParaRPr sz="1590">
              <a:solidFill>
                <a:schemeClr val="dk1"/>
              </a:solidFill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Char char="●"/>
            </a:pPr>
            <a:r>
              <a:rPr lang="en-GB" sz="1590">
                <a:solidFill>
                  <a:schemeClr val="dk1"/>
                </a:solidFill>
              </a:rPr>
              <a:t>2nd paragraph: highest-severity issues found and business impact (in plain language)</a:t>
            </a:r>
            <a:br>
              <a:rPr lang="en-GB" sz="1590">
                <a:solidFill>
                  <a:schemeClr val="dk1"/>
                </a:solidFill>
              </a:rPr>
            </a:br>
            <a:endParaRPr sz="1590">
              <a:solidFill>
                <a:schemeClr val="dk1"/>
              </a:solidFill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Char char="●"/>
            </a:pPr>
            <a:r>
              <a:rPr lang="en-GB" sz="1590">
                <a:solidFill>
                  <a:schemeClr val="dk1"/>
                </a:solidFill>
              </a:rPr>
              <a:t>3rd paragraph: remediation posture - recommended next steps (priorities)</a:t>
            </a:r>
            <a:br>
              <a:rPr lang="en-GB" sz="1590">
                <a:solidFill>
                  <a:schemeClr val="dk1"/>
                </a:solidFill>
              </a:rPr>
            </a:br>
            <a:endParaRPr sz="1590">
              <a:solidFill>
                <a:schemeClr val="dk1"/>
              </a:solidFill>
            </a:endParaRPr>
          </a:p>
          <a:p>
            <a:pPr indent="-32956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90"/>
              <a:buChar char="●"/>
            </a:pPr>
            <a:r>
              <a:rPr lang="en-GB" sz="1590">
                <a:solidFill>
                  <a:schemeClr val="dk1"/>
                </a:solidFill>
              </a:rPr>
              <a:t>4th paragraph: snapshot of scope &amp; dates and statement about what was not tested</a:t>
            </a:r>
            <a:br>
              <a:rPr lang="en-GB" sz="1590">
                <a:solidFill>
                  <a:schemeClr val="dk1"/>
                </a:solidFill>
              </a:rPr>
            </a:br>
            <a:endParaRPr sz="159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590">
                <a:solidFill>
                  <a:schemeClr val="accent4"/>
                </a:solidFill>
              </a:rPr>
              <a:t>Good executive summaries let a board member or CTO understand the risk in &lt;2 minutes.</a:t>
            </a:r>
            <a:endParaRPr sz="159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Executive Summary: Examples (Correct vs Incorrect)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195" name="Google Shape;195;p3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-GB" sz="1700">
                <a:solidFill>
                  <a:srgbClr val="93C47D"/>
                </a:solidFill>
              </a:rPr>
              <a:t>Correct:</a:t>
            </a:r>
            <a:br>
              <a:rPr lang="en-GB" sz="1700">
                <a:solidFill>
                  <a:schemeClr val="dk1"/>
                </a:solidFill>
              </a:rPr>
            </a:br>
            <a:br>
              <a:rPr lang="en-GB" sz="1700">
                <a:solidFill>
                  <a:schemeClr val="dk1"/>
                </a:solidFill>
              </a:rPr>
            </a:br>
            <a:r>
              <a:rPr lang="en-GB" sz="1700">
                <a:solidFill>
                  <a:schemeClr val="dk1"/>
                </a:solidFill>
              </a:rPr>
              <a:t>During the black-box test of &lt;COMPANY&gt; (&lt;DATE&gt; 2025) we discovered two critical issues (unauthenticated SQL injection in /api/login and privilege escalation allowing low-privilege user to access admin functions). These could have allowed attackers to exfiltrate user data or change account settings.</a:t>
            </a:r>
            <a:br>
              <a:rPr lang="en-GB" sz="1700">
                <a:solidFill>
                  <a:schemeClr val="dk1"/>
                </a:solidFill>
              </a:rPr>
            </a:br>
            <a:br>
              <a:rPr lang="en-GB" sz="1700">
                <a:solidFill>
                  <a:schemeClr val="dk1"/>
                </a:solidFill>
              </a:rPr>
            </a:br>
            <a:r>
              <a:rPr lang="en-GB" sz="1700">
                <a:solidFill>
                  <a:srgbClr val="FF0000"/>
                </a:solidFill>
              </a:rPr>
              <a:t>Incorrect:</a:t>
            </a:r>
            <a:br>
              <a:rPr lang="en-GB" sz="1700">
                <a:solidFill>
                  <a:schemeClr val="dk1"/>
                </a:solidFill>
              </a:rPr>
            </a:br>
            <a:br>
              <a:rPr lang="en-GB" sz="1700">
                <a:solidFill>
                  <a:schemeClr val="dk1"/>
                </a:solidFill>
              </a:rPr>
            </a:br>
            <a:r>
              <a:rPr lang="en-GB" sz="1700">
                <a:solidFill>
                  <a:schemeClr val="dk1"/>
                </a:solidFill>
              </a:rPr>
              <a:t>The app is totally broken and extremely vulnerable. We owned everything and you should shut it down. Fix now!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Scope &amp; Objectives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01" name="Google Shape;201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Exact assets tested (domains, IPs, apps, endpoints).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What was in-scope vs out-of-scope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Credentials provided (yes/no; test accounts)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Test types performed (OWASP Top10, business logic, API fuzzing)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Acceptable testing windows, rate limits, and safety constraints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Methodology &amp; Tools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07" name="Google Shape;207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High-level approach: reconnaissance → discovery → exploitation → post-exploitation </a:t>
            </a:r>
            <a:r>
              <a:rPr lang="en-GB">
                <a:solidFill>
                  <a:schemeClr val="dk1"/>
                </a:solidFill>
              </a:rPr>
              <a:t>→</a:t>
            </a:r>
            <a:r>
              <a:rPr lang="en-GB">
                <a:solidFill>
                  <a:schemeClr val="dk1"/>
                </a:solidFill>
              </a:rPr>
              <a:t> reporting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List representative tools (e.g., Burp Suite, nmap, wfuzz) — avoid exhaustive lists; call out custom tools or scripts used.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State test rigor: automated scans + manual verification.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Mention responsible disclosure</a:t>
            </a:r>
            <a:r>
              <a:rPr lang="en-GB">
                <a:solidFill>
                  <a:schemeClr val="dk1"/>
                </a:solidFill>
              </a:rPr>
              <a:t> p</a:t>
            </a:r>
            <a:r>
              <a:rPr lang="en-GB">
                <a:solidFill>
                  <a:schemeClr val="dk1"/>
                </a:solidFill>
              </a:rPr>
              <a:t>rocess used.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Findings Section - How to structure each finding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13" name="Google Shape;21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50">
                <a:solidFill>
                  <a:schemeClr val="dk1"/>
                </a:solidFill>
              </a:rPr>
              <a:t>For each issue include: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Finding ID &amp; Title (short, clear)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Severity / Risk Rating (CVSS / custom scale)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Affected assets / URLs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Summary (one-line)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Impact (business-focused)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Technical details &amp; root cause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Proof of Concept / Reproduction Steps (step-by-step)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Evidence (screenshots, request/response, logs)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Remediation / Mitigations (short + code example if needed)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References (CWE, OWASP, CVE if applicable)</a:t>
            </a:r>
            <a:endParaRPr sz="1550">
              <a:solidFill>
                <a:schemeClr val="dk1"/>
              </a:solidFill>
            </a:endParaRPr>
          </a:p>
          <a:p>
            <a:pPr indent="-32702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50"/>
              <a:buChar char="●"/>
            </a:pPr>
            <a:r>
              <a:rPr lang="en-GB" sz="1550">
                <a:solidFill>
                  <a:schemeClr val="dk1"/>
                </a:solidFill>
              </a:rPr>
              <a:t>Retest / Validation criteria</a:t>
            </a:r>
            <a:endParaRPr sz="15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accent4"/>
                </a:solidFill>
              </a:rPr>
              <a:t>Finding Title: Examples (Correct vs Incorrect)</a:t>
            </a:r>
            <a:endParaRPr>
              <a:solidFill>
                <a:schemeClr val="accent4"/>
              </a:solidFill>
            </a:endParaRPr>
          </a:p>
        </p:txBody>
      </p:sp>
      <p:sp>
        <p:nvSpPr>
          <p:cNvPr id="219" name="Google Shape;21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</a:rPr>
              <a:t>Correct:</a:t>
            </a:r>
            <a:r>
              <a:rPr lang="en-GB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SQL Injection in /api/login (unauthenticated)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0000"/>
                </a:solidFill>
              </a:rPr>
              <a:t>Inc</a:t>
            </a:r>
            <a:r>
              <a:rPr lang="en-GB">
                <a:solidFill>
                  <a:srgbClr val="FF0000"/>
                </a:solidFill>
              </a:rPr>
              <a:t>orrect: </a:t>
            </a:r>
            <a:endParaRPr>
              <a:solidFill>
                <a:srgbClr val="FF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300">
                <a:solidFill>
                  <a:schemeClr val="dk1"/>
                </a:solidFill>
              </a:rPr>
              <a:t>SQLi everywhere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43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4220">
                <a:solidFill>
                  <a:schemeClr val="accent4"/>
                </a:solidFill>
              </a:rPr>
              <a:t>QnA</a:t>
            </a:r>
            <a:endParaRPr sz="422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4"/>
          <p:cNvSpPr txBox="1"/>
          <p:nvPr>
            <p:ph type="title"/>
          </p:nvPr>
        </p:nvSpPr>
        <p:spPr>
          <a:xfrm>
            <a:off x="311700" y="352325"/>
            <a:ext cx="8520600" cy="102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4100">
                <a:solidFill>
                  <a:srgbClr val="FF9900"/>
                </a:solidFill>
              </a:rPr>
              <a:t>Socials</a:t>
            </a:r>
            <a:endParaRPr sz="4100">
              <a:solidFill>
                <a:srgbClr val="FF9900"/>
              </a:solidFill>
            </a:endParaRPr>
          </a:p>
        </p:txBody>
      </p:sp>
      <p:pic>
        <p:nvPicPr>
          <p:cNvPr id="230" name="Google Shape;230;p4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125" y="2733799"/>
            <a:ext cx="724050" cy="7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44"/>
          <p:cNvSpPr txBox="1"/>
          <p:nvPr/>
        </p:nvSpPr>
        <p:spPr>
          <a:xfrm>
            <a:off x="1333175" y="2733725"/>
            <a:ext cx="33927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chemeClr val="dk1"/>
                </a:solidFill>
              </a:rPr>
              <a:t>@cryptoknight01</a:t>
            </a:r>
            <a:endParaRPr sz="2700">
              <a:solidFill>
                <a:schemeClr val="dk1"/>
              </a:solidFill>
            </a:endParaRPr>
          </a:p>
        </p:txBody>
      </p:sp>
      <p:pic>
        <p:nvPicPr>
          <p:cNvPr id="232" name="Google Shape;232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125" y="3713575"/>
            <a:ext cx="724050" cy="72405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44"/>
          <p:cNvSpPr txBox="1"/>
          <p:nvPr/>
        </p:nvSpPr>
        <p:spPr>
          <a:xfrm>
            <a:off x="1333175" y="3811375"/>
            <a:ext cx="2718600" cy="72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700">
                <a:solidFill>
                  <a:srgbClr val="FFFFFF"/>
                </a:solidFill>
              </a:rPr>
              <a:t>@thedrsniper</a:t>
            </a:r>
            <a:endParaRPr sz="2700">
              <a:solidFill>
                <a:srgbClr val="FFFFFF"/>
              </a:solidFill>
            </a:endParaRPr>
          </a:p>
        </p:txBody>
      </p:sp>
      <p:sp>
        <p:nvSpPr>
          <p:cNvPr id="234" name="Google Shape;234;p44"/>
          <p:cNvSpPr txBox="1"/>
          <p:nvPr/>
        </p:nvSpPr>
        <p:spPr>
          <a:xfrm>
            <a:off x="1431325" y="1778075"/>
            <a:ext cx="66510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chemeClr val="dk1"/>
                </a:solidFill>
              </a:rPr>
              <a:t>youtube.com/@cryptoknight01</a:t>
            </a:r>
            <a:endParaRPr sz="2400">
              <a:solidFill>
                <a:schemeClr val="dk1"/>
              </a:solidFill>
            </a:endParaRPr>
          </a:p>
        </p:txBody>
      </p:sp>
      <p:pic>
        <p:nvPicPr>
          <p:cNvPr id="235" name="Google Shape;235;p4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0960" y="1736625"/>
            <a:ext cx="920374" cy="637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5"/>
          <p:cNvSpPr txBox="1"/>
          <p:nvPr>
            <p:ph type="title"/>
          </p:nvPr>
        </p:nvSpPr>
        <p:spPr>
          <a:xfrm>
            <a:off x="311700" y="22854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3620">
                <a:solidFill>
                  <a:schemeClr val="accent4"/>
                </a:solidFill>
              </a:rPr>
              <a:t>Thank You !!</a:t>
            </a:r>
            <a:endParaRPr sz="3620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